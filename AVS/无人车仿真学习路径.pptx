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-245" y="-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657600" y="2286000"/>
            <a:ext cx="4876495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1097280"/>
            <a:ext cx="94484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00D2FF"/>
                </a:solidFill>
                <a:latin typeface="微软雅黑"/>
              </a:defRPr>
            </a:pPr>
            <a:r>
              <a:t>🚗 无人车仿真组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377440"/>
            <a:ext cx="94484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微软雅黑"/>
              </a:defRPr>
            </a:pPr>
            <a:r>
              <a:t>从零到一的学习路径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931920"/>
            <a:ext cx="94484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8C8"/>
                </a:solidFill>
                <a:latin typeface="微软雅黑"/>
              </a:defRPr>
            </a:pPr>
            <a:r>
              <a:t>第十九届先进机器人及仿真技术大赛  ·  备赛学习指南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5029200"/>
            <a:ext cx="1097280" cy="274320"/>
          </a:xfrm>
          <a:prstGeom prst="round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ROS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5029200"/>
            <a:ext cx="1097280" cy="274320"/>
          </a:xfrm>
          <a:prstGeom prst="round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Gazebo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5029200"/>
            <a:ext cx="1097280" cy="274320"/>
          </a:xfrm>
          <a:prstGeom prst="round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SLAM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0" y="5029200"/>
            <a:ext cx="1097280" cy="274320"/>
          </a:xfrm>
          <a:prstGeom prst="roundRect">
            <a:avLst/>
          </a:prstGeom>
          <a:solidFill>
            <a:srgbClr val="FF9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导航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5029200"/>
            <a:ext cx="1097280" cy="274320"/>
          </a:xfrm>
          <a:prstGeom prst="roundRect">
            <a:avLst/>
          </a:prstGeom>
          <a:solidFill>
            <a:srgbClr val="FF4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视觉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5029200"/>
            <a:ext cx="1316736" cy="27432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AprilTag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943600"/>
            <a:ext cx="9448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A8295"/>
                </a:solidFill>
                <a:latin typeface="微软雅黑"/>
              </a:defRPr>
            </a:pPr>
            <a:r>
              <a:t>2026年备赛版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📋 比赛是什么？先搞清楚规则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743200" cy="36576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303520" cy="201168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5544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微软雅黑"/>
              </a:defRPr>
            </a:pPr>
            <a:r>
              <a:t>🏭 故事背景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59"/>
              </a:spcAft>
              <a:defRPr sz="1400" b="0">
                <a:solidFill>
                  <a:srgbClr val="B0B8C8"/>
                </a:solidFill>
                <a:latin typeface="微软雅黑"/>
              </a:defRPr>
            </a:pPr>
            <a:r>
              <a:t>某封闭厂区发生事故，人员无法进入</a:t>
            </a:r>
          </a:p>
          <a:p>
            <a:pPr>
              <a:spcAft>
                <a:spcPts val="559"/>
              </a:spcAft>
              <a:defRPr sz="1400" b="0">
                <a:solidFill>
                  <a:srgbClr val="B0B8C8"/>
                </a:solidFill>
                <a:latin typeface="微软雅黑"/>
              </a:defRPr>
            </a:pPr>
            <a:r>
              <a:t>你要控制一辆无人车，独立进入厂区勘探</a:t>
            </a:r>
          </a:p>
          <a:p>
            <a:pPr>
              <a:spcAft>
                <a:spcPts val="559"/>
              </a:spcAft>
              <a:defRPr sz="1400" b="0">
                <a:solidFill>
                  <a:srgbClr val="B0B8C8"/>
                </a:solidFill>
                <a:latin typeface="微软雅黑"/>
              </a:defRPr>
            </a:pPr>
            <a:r>
              <a:t>说白了：用仿真做一辆会认路、会推门、</a:t>
            </a:r>
          </a:p>
          <a:p>
            <a:pPr>
              <a:spcAft>
                <a:spcPts val="559"/>
              </a:spcAft>
              <a:defRPr sz="1400" b="0">
                <a:solidFill>
                  <a:srgbClr val="B0B8C8"/>
                </a:solidFill>
                <a:latin typeface="微软雅黑"/>
              </a:defRPr>
            </a:pPr>
            <a:r>
              <a:t>会认标识的智能小车！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63040"/>
            <a:ext cx="5303520" cy="201168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0" y="15544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E696"/>
                </a:solidFill>
                <a:latin typeface="微软雅黑"/>
              </a:defRPr>
            </a:pPr>
            <a:r>
              <a:t>🛠️ 技术栈要求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01168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B0B8C8"/>
                </a:solidFill>
                <a:latin typeface="微软雅黑"/>
              </a:defRPr>
            </a:pPr>
            <a:r>
              <a:t>▸ 系统：Ubuntu 20.04 + ROS Noetic</a:t>
            </a:r>
          </a:p>
          <a:p>
            <a:pPr>
              <a:spcAft>
                <a:spcPts val="600"/>
              </a:spcAft>
              <a:defRPr sz="1300">
                <a:solidFill>
                  <a:srgbClr val="B0B8C8"/>
                </a:solidFill>
                <a:latin typeface="微软雅黑"/>
              </a:defRPr>
            </a:pPr>
            <a:r>
              <a:t>▸ 　　　或 Ubuntu 22.04 + ROS2 Humble</a:t>
            </a:r>
          </a:p>
          <a:p>
            <a:pPr>
              <a:spcAft>
                <a:spcPts val="600"/>
              </a:spcAft>
              <a:defRPr sz="1300">
                <a:solidFill>
                  <a:srgbClr val="B0B8C8"/>
                </a:solidFill>
                <a:latin typeface="微软雅黑"/>
              </a:defRPr>
            </a:pPr>
            <a:r>
              <a:t>▸ 仿真：Gazebo</a:t>
            </a:r>
          </a:p>
          <a:p>
            <a:pPr>
              <a:spcAft>
                <a:spcPts val="600"/>
              </a:spcAft>
              <a:defRPr sz="1300">
                <a:solidFill>
                  <a:srgbClr val="B0B8C8"/>
                </a:solidFill>
                <a:latin typeface="微软雅黑"/>
              </a:defRPr>
            </a:pPr>
            <a:r>
              <a:t>▸ 语言：C++ 或 Python</a:t>
            </a:r>
          </a:p>
          <a:p>
            <a:pPr>
              <a:spcAft>
                <a:spcPts val="600"/>
              </a:spcAft>
              <a:defRPr sz="1300">
                <a:solidFill>
                  <a:srgbClr val="B0B8C8"/>
                </a:solidFill>
                <a:latin typeface="微软雅黑"/>
              </a:defRPr>
            </a:pPr>
            <a:r>
              <a:t>▸ 视觉：OpenCV / PyTorch / TensorFlow 均可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74903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🎯 比赛四步走（任务流程）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297680"/>
            <a:ext cx="2560320" cy="201168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68680" y="4434840"/>
            <a:ext cx="411480" cy="411480"/>
          </a:xfrm>
          <a:prstGeom prst="ellipse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6227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FF"/>
                </a:solidFill>
                <a:latin typeface="微软雅黑"/>
              </a:defRPr>
            </a:pPr>
            <a:r>
              <a:t>走廊搜寻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983480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90"/>
              </a:spcAft>
              <a:defRPr sz="1300" b="0">
                <a:solidFill>
                  <a:srgbClr val="B0B8C8"/>
                </a:solidFill>
                <a:latin typeface="微软雅黑"/>
              </a:defRPr>
            </a:pPr>
            <a:r>
              <a:t>识别5个</a:t>
            </a:r>
          </a:p>
          <a:p>
            <a:pPr>
              <a:spcAft>
                <a:spcPts val="390"/>
              </a:spcAft>
              <a:defRPr sz="1300" b="0">
                <a:solidFill>
                  <a:srgbClr val="B0B8C8"/>
                </a:solidFill>
                <a:latin typeface="微软雅黑"/>
              </a:defRPr>
            </a:pPr>
            <a:r>
              <a:t>初级灾害标识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66160" y="4297680"/>
            <a:ext cx="2560320" cy="201168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F9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3703320" y="4434840"/>
            <a:ext cx="411480" cy="411480"/>
          </a:xfrm>
          <a:prstGeom prst="ellipse">
            <a:avLst/>
          </a:prstGeom>
          <a:solidFill>
            <a:srgbClr val="FF9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446227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9600"/>
                </a:solidFill>
                <a:latin typeface="微软雅黑"/>
              </a:defRPr>
            </a:pPr>
            <a:r>
              <a:t>入口清障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40" y="4983480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90"/>
              </a:spcAft>
              <a:defRPr sz="1300" b="0">
                <a:solidFill>
                  <a:srgbClr val="B0B8C8"/>
                </a:solidFill>
                <a:latin typeface="微软雅黑"/>
              </a:defRPr>
            </a:pPr>
            <a:r>
              <a:t>推开障碍物</a:t>
            </a:r>
          </a:p>
          <a:p>
            <a:pPr>
              <a:spcAft>
                <a:spcPts val="390"/>
              </a:spcAft>
              <a:defRPr sz="1300" b="0">
                <a:solidFill>
                  <a:srgbClr val="B0B8C8"/>
                </a:solidFill>
                <a:latin typeface="微软雅黑"/>
              </a:defRPr>
            </a:pPr>
            <a:r>
              <a:t>打通通道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4297680"/>
            <a:ext cx="2560320" cy="201168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A8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537960" y="4434840"/>
            <a:ext cx="411480" cy="411480"/>
          </a:xfrm>
          <a:prstGeom prst="ellipse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446227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85CFF"/>
                </a:solidFill>
                <a:latin typeface="微软雅黑"/>
              </a:defRPr>
            </a:pPr>
            <a:r>
              <a:t>核心标定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4983480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90"/>
              </a:spcAft>
              <a:defRPr sz="1300" b="0">
                <a:solidFill>
                  <a:srgbClr val="B0B8C8"/>
                </a:solidFill>
                <a:latin typeface="微软雅黑"/>
              </a:defRPr>
            </a:pPr>
            <a:r>
              <a:t>识别标识+AprilTag</a:t>
            </a:r>
          </a:p>
          <a:p>
            <a:pPr>
              <a:spcAft>
                <a:spcPts val="390"/>
              </a:spcAft>
              <a:defRPr sz="1300" b="0">
                <a:solidFill>
                  <a:srgbClr val="B0B8C8"/>
                </a:solidFill>
                <a:latin typeface="微软雅黑"/>
              </a:defRPr>
            </a:pPr>
            <a:r>
              <a:t>RViz地图标记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35440" y="4297680"/>
            <a:ext cx="2560320" cy="201168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372600" y="4434840"/>
            <a:ext cx="411480" cy="411480"/>
          </a:xfrm>
          <a:prstGeom prst="ellipse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0" y="446227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696"/>
                </a:solidFill>
                <a:latin typeface="微软雅黑"/>
              </a:defRPr>
            </a:pPr>
            <a:r>
              <a:t>返回起点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0" y="4983480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90"/>
              </a:spcAft>
              <a:defRPr sz="1300" b="0">
                <a:solidFill>
                  <a:srgbClr val="B0B8C8"/>
                </a:solidFill>
                <a:latin typeface="微软雅黑"/>
              </a:defRPr>
            </a:pPr>
            <a:r>
              <a:t>完成任务</a:t>
            </a:r>
          </a:p>
          <a:p>
            <a:pPr>
              <a:spcAft>
                <a:spcPts val="390"/>
              </a:spcAft>
              <a:defRPr sz="1300" b="0">
                <a:solidFill>
                  <a:srgbClr val="B0B8C8"/>
                </a:solidFill>
                <a:latin typeface="微软雅黑"/>
              </a:defRPr>
            </a:pPr>
            <a:r>
              <a:t>安全返回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0" y="50292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7A8295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50292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7A8295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50292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7A8295"/>
                </a:solidFill>
                <a:latin typeface="微软雅黑"/>
              </a:defRPr>
            </a:pPr>
            <a:r>
              <a:t>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💯 分值分布 — 知道分在哪，学习才有方向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743200" cy="36576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749808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14400" y="1609344"/>
            <a:ext cx="1097280" cy="274320"/>
          </a:xfrm>
          <a:prstGeom prst="round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15分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0" y="1508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环境构建与建图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0" y="1536192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8"/>
                </a:solidFill>
                <a:latin typeface="微软雅黑"/>
              </a:defRPr>
            </a:pPr>
            <a:r>
              <a:t>搭建Gazebo地图 + 2D栅格地图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75520" y="1627632"/>
            <a:ext cx="1371600" cy="228600"/>
          </a:xfrm>
          <a:prstGeom prst="roundRect">
            <a:avLst/>
          </a:prstGeom>
          <a:solidFill>
            <a:srgbClr val="2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875520" y="1627632"/>
            <a:ext cx="1028700" cy="228600"/>
          </a:xfrm>
          <a:prstGeom prst="round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31520" y="2240280"/>
            <a:ext cx="10698480" cy="749808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14400" y="2478024"/>
            <a:ext cx="1097280" cy="27432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20分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2377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走廊视觉识别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2404872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8"/>
                </a:solidFill>
                <a:latin typeface="微软雅黑"/>
              </a:defRPr>
            </a:pPr>
            <a:r>
              <a:t>识别5个初级灾害标识并打印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875520" y="2496312"/>
            <a:ext cx="1371600" cy="228600"/>
          </a:xfrm>
          <a:prstGeom prst="roundRect">
            <a:avLst/>
          </a:prstGeom>
          <a:solidFill>
            <a:srgbClr val="2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9875520" y="2496312"/>
            <a:ext cx="1371600" cy="2286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31520" y="3108960"/>
            <a:ext cx="10698480" cy="749808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FF9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14400" y="3346704"/>
            <a:ext cx="1097280" cy="274320"/>
          </a:xfrm>
          <a:prstGeom prst="roundRect">
            <a:avLst/>
          </a:prstGeom>
          <a:solidFill>
            <a:srgbClr val="FF9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20分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3246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入口清障交互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3273552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8"/>
                </a:solidFill>
                <a:latin typeface="微软雅黑"/>
              </a:defRPr>
            </a:pPr>
            <a:r>
              <a:t>物理碰撞推开障碍物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75520" y="3364992"/>
            <a:ext cx="1371600" cy="228600"/>
          </a:xfrm>
          <a:prstGeom prst="roundRect">
            <a:avLst/>
          </a:prstGeom>
          <a:solidFill>
            <a:srgbClr val="2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9875520" y="3364992"/>
            <a:ext cx="1371600" cy="228600"/>
          </a:xfrm>
          <a:prstGeom prst="roundRect">
            <a:avLst/>
          </a:prstGeom>
          <a:solidFill>
            <a:srgbClr val="FF9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731520" y="3977639"/>
            <a:ext cx="10698480" cy="749808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A8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914400" y="4215383"/>
            <a:ext cx="1097280" cy="274320"/>
          </a:xfrm>
          <a:prstGeom prst="round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20分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77440" y="411479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核心区标定识别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142231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8"/>
                </a:solidFill>
                <a:latin typeface="微软雅黑"/>
              </a:defRPr>
            </a:pPr>
            <a:r>
              <a:t>AprilTag + RViz Marker标记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875520" y="4233671"/>
            <a:ext cx="1371600" cy="228600"/>
          </a:xfrm>
          <a:prstGeom prst="roundRect">
            <a:avLst/>
          </a:prstGeom>
          <a:solidFill>
            <a:srgbClr val="2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9875520" y="4233671"/>
            <a:ext cx="1371600" cy="228600"/>
          </a:xfrm>
          <a:prstGeom prst="round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731520" y="4846320"/>
            <a:ext cx="10698480" cy="749808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914400" y="5084064"/>
            <a:ext cx="1097280" cy="274320"/>
          </a:xfrm>
          <a:prstGeom prst="round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5分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77440" y="4983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返回起点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03520" y="5010912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8"/>
                </a:solidFill>
                <a:latin typeface="微软雅黑"/>
              </a:defRPr>
            </a:pPr>
            <a:r>
              <a:t>完成任务后返回出发点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875520" y="5102352"/>
            <a:ext cx="1371600" cy="228600"/>
          </a:xfrm>
          <a:prstGeom prst="roundRect">
            <a:avLst/>
          </a:prstGeom>
          <a:solidFill>
            <a:srgbClr val="2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9875520" y="5102352"/>
            <a:ext cx="342900" cy="228600"/>
          </a:xfrm>
          <a:prstGeom prst="round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731520" y="5715000"/>
            <a:ext cx="10698480" cy="749808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FF4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914400" y="5952744"/>
            <a:ext cx="1097280" cy="274320"/>
          </a:xfrm>
          <a:prstGeom prst="roundRect">
            <a:avLst/>
          </a:prstGeom>
          <a:solidFill>
            <a:srgbClr val="FF4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20分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40" y="58521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方案创新答辩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03520" y="5879592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8"/>
                </a:solidFill>
                <a:latin typeface="微软雅黑"/>
              </a:defRPr>
            </a:pPr>
            <a:r>
              <a:t>PPT/视频展示，专家打分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875520" y="5971032"/>
            <a:ext cx="1371600" cy="228600"/>
          </a:xfrm>
          <a:prstGeom prst="roundRect">
            <a:avLst/>
          </a:prstGeom>
          <a:solidFill>
            <a:srgbClr val="2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9875520" y="5971032"/>
            <a:ext cx="1371600" cy="228600"/>
          </a:xfrm>
          <a:prstGeom prst="roundRect">
            <a:avLst/>
          </a:prstGeom>
          <a:solidFill>
            <a:srgbClr val="FF4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31520" y="6400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D93D"/>
                </a:solidFill>
                <a:latin typeface="微软雅黑"/>
              </a:defRPr>
            </a:pPr>
            <a:r>
              <a:t>💡 提示：视觉识别(20) + 核心标定(20) + 清障(20) = 60分！这三项是拿分大头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🗺️ 学习路径总览 — 6个阶段，从零到参赛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743200" cy="36576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1783080" cy="484632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94360" y="1600200"/>
            <a:ext cx="1152144" cy="274320"/>
          </a:xfrm>
          <a:prstGeom prst="round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Phase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微软雅黑"/>
              </a:defRPr>
            </a:pPr>
            <a:r>
              <a:t>🖥️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96FF"/>
                </a:solidFill>
                <a:latin typeface="微软雅黑"/>
              </a:defRPr>
            </a:pPr>
            <a:r>
              <a:t>环境搭建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108960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A8295"/>
                </a:solidFill>
                <a:latin typeface="微软雅黑"/>
              </a:defRPr>
            </a:pPr>
            <a:r>
              <a:t>⏱️ 1~2天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657600"/>
            <a:ext cx="1508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20"/>
              </a:spcAft>
              <a:defRPr sz="1200" b="0">
                <a:solidFill>
                  <a:srgbClr val="B0B8C8"/>
                </a:solidFill>
                <a:latin typeface="微软雅黑"/>
              </a:defRPr>
            </a:pPr>
            <a:r>
              <a:t>• 装系统</a:t>
            </a:r>
          </a:p>
          <a:p>
            <a:pPr>
              <a:spcAft>
                <a:spcPts val="720"/>
              </a:spcAft>
              <a:defRPr sz="1200" b="0">
                <a:solidFill>
                  <a:srgbClr val="B0B8C8"/>
                </a:solidFill>
                <a:latin typeface="微软雅黑"/>
              </a:defRPr>
            </a:pPr>
            <a:r>
              <a:t>• 装ROS</a:t>
            </a:r>
          </a:p>
          <a:p>
            <a:pPr>
              <a:spcAft>
                <a:spcPts val="720"/>
              </a:spcAft>
              <a:defRPr sz="1200" b="0">
                <a:solidFill>
                  <a:srgbClr val="B0B8C8"/>
                </a:solidFill>
                <a:latin typeface="微软雅黑"/>
              </a:defRPr>
            </a:pPr>
            <a:r>
              <a:t>• 装Gazebo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347472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7A8295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77440" y="1463040"/>
            <a:ext cx="1783080" cy="484632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514600" y="1600200"/>
            <a:ext cx="1152144" cy="27432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Phase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2011680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微软雅黑"/>
              </a:defRPr>
            </a:pPr>
            <a:r>
              <a:t>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265176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D2FF"/>
                </a:solidFill>
                <a:latin typeface="微软雅黑"/>
              </a:defRPr>
            </a:pPr>
            <a:r>
              <a:t>ROS基础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3108960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A8295"/>
                </a:solidFill>
                <a:latin typeface="微软雅黑"/>
              </a:defRPr>
            </a:pPr>
            <a:r>
              <a:t>⏱️ 1~2周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4600" y="3657600"/>
            <a:ext cx="1508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20"/>
              </a:spcAft>
              <a:defRPr sz="1200" b="0">
                <a:solidFill>
                  <a:srgbClr val="B0B8C8"/>
                </a:solidFill>
                <a:latin typeface="微软雅黑"/>
              </a:defRPr>
            </a:pPr>
            <a:r>
              <a:t>• 话题/服务</a:t>
            </a:r>
          </a:p>
          <a:p>
            <a:pPr>
              <a:spcAft>
                <a:spcPts val="720"/>
              </a:spcAft>
              <a:defRPr sz="1200" b="0">
                <a:solidFill>
                  <a:srgbClr val="B0B8C8"/>
                </a:solidFill>
                <a:latin typeface="微软雅黑"/>
              </a:defRPr>
            </a:pPr>
            <a:r>
              <a:t>• Launch文件</a:t>
            </a:r>
          </a:p>
          <a:p>
            <a:pPr>
              <a:spcAft>
                <a:spcPts val="720"/>
              </a:spcAft>
              <a:defRPr sz="1200" b="0">
                <a:solidFill>
                  <a:srgbClr val="B0B8C8"/>
                </a:solidFill>
                <a:latin typeface="微软雅黑"/>
              </a:defRPr>
            </a:pPr>
            <a:r>
              <a:t>• 基本通信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347472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7A8295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1463040"/>
            <a:ext cx="1783080" cy="484632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434840" y="1600200"/>
            <a:ext cx="1152144" cy="274320"/>
          </a:xfrm>
          <a:prstGeom prst="round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Phase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2011680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微软雅黑"/>
              </a:defRPr>
            </a:pPr>
            <a:r>
              <a:t>🗺️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265176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E696"/>
                </a:solidFill>
                <a:latin typeface="微软雅黑"/>
              </a:defRPr>
            </a:pPr>
            <a:r>
              <a:t>建图导航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3108960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A8295"/>
                </a:solidFill>
                <a:latin typeface="微软雅黑"/>
              </a:defRPr>
            </a:pPr>
            <a:r>
              <a:t>⏱️ 1~2周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3657600"/>
            <a:ext cx="1508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20"/>
              </a:spcAft>
              <a:defRPr sz="1200" b="0">
                <a:solidFill>
                  <a:srgbClr val="B0B8C8"/>
                </a:solidFill>
                <a:latin typeface="微软雅黑"/>
              </a:defRPr>
            </a:pPr>
            <a:r>
              <a:t>• SLAM建图</a:t>
            </a:r>
          </a:p>
          <a:p>
            <a:pPr>
              <a:spcAft>
                <a:spcPts val="720"/>
              </a:spcAft>
              <a:defRPr sz="1200" b="0">
                <a:solidFill>
                  <a:srgbClr val="B0B8C8"/>
                </a:solidFill>
                <a:latin typeface="微软雅黑"/>
              </a:defRPr>
            </a:pPr>
            <a:r>
              <a:t>• 导航避障</a:t>
            </a:r>
          </a:p>
          <a:p>
            <a:pPr>
              <a:spcAft>
                <a:spcPts val="720"/>
              </a:spcAft>
              <a:defRPr sz="1200" b="0">
                <a:solidFill>
                  <a:srgbClr val="B0B8C8"/>
                </a:solidFill>
                <a:latin typeface="微软雅黑"/>
              </a:defRPr>
            </a:pPr>
            <a:r>
              <a:t>• 路径规划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80760" y="347472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7A8295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1463040"/>
            <a:ext cx="1783080" cy="484632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A8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355080" y="1600200"/>
            <a:ext cx="1152144" cy="274320"/>
          </a:xfrm>
          <a:prstGeom prst="round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Phase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2011680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微软雅黑"/>
              </a:defRPr>
            </a:pPr>
            <a:r>
              <a:t>👁️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265176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A85CFF"/>
                </a:solidFill>
                <a:latin typeface="微软雅黑"/>
              </a:defRPr>
            </a:pPr>
            <a:r>
              <a:t>视觉识别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3108960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A8295"/>
                </a:solidFill>
                <a:latin typeface="微软雅黑"/>
              </a:defRPr>
            </a:pPr>
            <a:r>
              <a:t>⏱️ 1~2周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3657600"/>
            <a:ext cx="1508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20"/>
              </a:spcAft>
              <a:defRPr sz="1200" b="0">
                <a:solidFill>
                  <a:srgbClr val="B0B8C8"/>
                </a:solidFill>
                <a:latin typeface="微软雅黑"/>
              </a:defRPr>
            </a:pPr>
            <a:r>
              <a:t>• OpenCV</a:t>
            </a:r>
          </a:p>
          <a:p>
            <a:pPr>
              <a:spcAft>
                <a:spcPts val="720"/>
              </a:spcAft>
              <a:defRPr sz="1200" b="0">
                <a:solidFill>
                  <a:srgbClr val="B0B8C8"/>
                </a:solidFill>
                <a:latin typeface="微软雅黑"/>
              </a:defRPr>
            </a:pPr>
            <a:r>
              <a:t>• 目标检测</a:t>
            </a:r>
          </a:p>
          <a:p>
            <a:pPr>
              <a:spcAft>
                <a:spcPts val="720"/>
              </a:spcAft>
              <a:defRPr sz="1200" b="0">
                <a:solidFill>
                  <a:srgbClr val="B0B8C8"/>
                </a:solidFill>
                <a:latin typeface="微软雅黑"/>
              </a:defRPr>
            </a:pPr>
            <a:r>
              <a:t>• AprilTag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01000" y="347472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7A8295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38160" y="1463040"/>
            <a:ext cx="1783080" cy="484632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F9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8275320" y="1600200"/>
            <a:ext cx="1152144" cy="274320"/>
          </a:xfrm>
          <a:prstGeom prst="roundRect">
            <a:avLst/>
          </a:prstGeom>
          <a:solidFill>
            <a:srgbClr val="FF9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Phase 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38160" y="2011680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微软雅黑"/>
              </a:defRPr>
            </a:pPr>
            <a:r>
              <a:t>🔧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8160" y="265176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9600"/>
                </a:solidFill>
                <a:latin typeface="微软雅黑"/>
              </a:defRPr>
            </a:pPr>
            <a:r>
              <a:t>系统集成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38160" y="3108960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A8295"/>
                </a:solidFill>
                <a:latin typeface="微软雅黑"/>
              </a:defRPr>
            </a:pPr>
            <a:r>
              <a:t>⏱️ 1~2周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75320" y="3657600"/>
            <a:ext cx="1508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20"/>
              </a:spcAft>
              <a:defRPr sz="1200" b="0">
                <a:solidFill>
                  <a:srgbClr val="B0B8C8"/>
                </a:solidFill>
                <a:latin typeface="微软雅黑"/>
              </a:defRPr>
            </a:pPr>
            <a:r>
              <a:t>• Gazebo建模</a:t>
            </a:r>
          </a:p>
          <a:p>
            <a:pPr>
              <a:spcAft>
                <a:spcPts val="720"/>
              </a:spcAft>
              <a:defRPr sz="1200" b="0">
                <a:solidFill>
                  <a:srgbClr val="B0B8C8"/>
                </a:solidFill>
                <a:latin typeface="微软雅黑"/>
              </a:defRPr>
            </a:pPr>
            <a:r>
              <a:t>• 推障交互</a:t>
            </a:r>
          </a:p>
          <a:p>
            <a:pPr>
              <a:spcAft>
                <a:spcPts val="720"/>
              </a:spcAft>
              <a:defRPr sz="1200" b="0">
                <a:solidFill>
                  <a:srgbClr val="B0B8C8"/>
                </a:solidFill>
                <a:latin typeface="微软雅黑"/>
              </a:defRPr>
            </a:pPr>
            <a:r>
              <a:t>• 全流程串联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21240" y="347472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7A8295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058400" y="1463040"/>
            <a:ext cx="1783080" cy="484632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F4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10195560" y="1600200"/>
            <a:ext cx="1152144" cy="274320"/>
          </a:xfrm>
          <a:prstGeom prst="roundRect">
            <a:avLst/>
          </a:prstGeom>
          <a:solidFill>
            <a:srgbClr val="FF4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Phase 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8400" y="2011680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  <a:latin typeface="微软雅黑"/>
              </a:defRPr>
            </a:pPr>
            <a:r>
              <a:t>🎤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58400" y="265176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4D6A"/>
                </a:solidFill>
                <a:latin typeface="微软雅黑"/>
              </a:defRPr>
            </a:pPr>
            <a:r>
              <a:t>答辩准备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0" y="3108960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A8295"/>
                </a:solidFill>
                <a:latin typeface="微软雅黑"/>
              </a:defRPr>
            </a:pPr>
            <a:r>
              <a:t>⏱️ 3~5天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195560" y="3657600"/>
            <a:ext cx="1508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20"/>
              </a:spcAft>
              <a:defRPr sz="1200" b="0">
                <a:solidFill>
                  <a:srgbClr val="B0B8C8"/>
                </a:solidFill>
                <a:latin typeface="微软雅黑"/>
              </a:defRPr>
            </a:pPr>
            <a:r>
              <a:t>• PPT制作</a:t>
            </a:r>
          </a:p>
          <a:p>
            <a:pPr>
              <a:spcAft>
                <a:spcPts val="720"/>
              </a:spcAft>
              <a:defRPr sz="1200" b="0">
                <a:solidFill>
                  <a:srgbClr val="B0B8C8"/>
                </a:solidFill>
                <a:latin typeface="微软雅黑"/>
              </a:defRPr>
            </a:pPr>
            <a:r>
              <a:t>• 视频录制</a:t>
            </a:r>
          </a:p>
          <a:p>
            <a:pPr>
              <a:spcAft>
                <a:spcPts val="720"/>
              </a:spcAft>
              <a:defRPr sz="1200" b="0">
                <a:solidFill>
                  <a:srgbClr val="B0B8C8"/>
                </a:solidFill>
                <a:latin typeface="微软雅黑"/>
              </a:defRPr>
            </a:pPr>
            <a:r>
              <a:t>• 技术文档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64922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D93D"/>
                </a:solidFill>
                <a:latin typeface="微软雅黑"/>
              </a:defRPr>
            </a:pPr>
            <a:r>
              <a:t>📅 总计约 5~8 周，建议每天投入 2~4 小时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365760"/>
            <a:ext cx="1152144" cy="274320"/>
          </a:xfrm>
          <a:prstGeom prst="round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Phase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3200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🖥️ 环境搭建 — 把工具装好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2743200" cy="36576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303520" cy="50292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6FF"/>
                </a:solidFill>
                <a:latin typeface="微软雅黑"/>
              </a:defRPr>
            </a:pPr>
            <a:r>
              <a:t>📦 安装清单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4937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20"/>
              </a:spcAft>
              <a:defRPr sz="1400" b="0">
                <a:solidFill>
                  <a:srgbClr val="B0B8C8"/>
                </a:solidFill>
                <a:latin typeface="微软雅黑"/>
              </a:defRPr>
            </a:pPr>
            <a:r>
              <a:t>① Ubuntu 20.04 系统（推荐双系统或虚拟机VMware）</a:t>
            </a:r>
          </a:p>
          <a:p>
            <a:pPr>
              <a:spcAft>
                <a:spcPts val="1120"/>
              </a:spcAft>
              <a:defRPr sz="1400" b="0">
                <a:solidFill>
                  <a:srgbClr val="B0B8C8"/>
                </a:solidFill>
                <a:latin typeface="微软雅黑"/>
              </a:defRPr>
            </a:pPr>
            <a:r>
              <a:t>② ROS Noetic（一键安装脚本：fishros）</a:t>
            </a:r>
          </a:p>
          <a:p>
            <a:pPr>
              <a:spcAft>
                <a:spcPts val="1120"/>
              </a:spcAft>
              <a:defRPr sz="1400" b="0">
                <a:solidFill>
                  <a:srgbClr val="B0B8C8"/>
                </a:solidFill>
                <a:latin typeface="微软雅黑"/>
              </a:defRPr>
            </a:pPr>
            <a:r>
              <a:t>③ Gazebo 11（随ROS一起装好）</a:t>
            </a:r>
          </a:p>
          <a:p>
            <a:pPr>
              <a:spcAft>
                <a:spcPts val="1120"/>
              </a:spcAft>
              <a:defRPr sz="1400" b="0">
                <a:solidFill>
                  <a:srgbClr val="B0B8C8"/>
                </a:solidFill>
                <a:latin typeface="微软雅黑"/>
              </a:defRPr>
            </a:pPr>
            <a:r>
              <a:t>④ VS Code + ROS 插件（写代码用）</a:t>
            </a:r>
          </a:p>
          <a:p>
            <a:pPr>
              <a:spcAft>
                <a:spcPts val="1120"/>
              </a:spcAft>
              <a:defRPr sz="1400" b="0">
                <a:solidFill>
                  <a:srgbClr val="B0B8C8"/>
                </a:solidFill>
                <a:latin typeface="微软雅黑"/>
              </a:defRPr>
            </a:pPr>
            <a:r>
              <a:t>⑤ Git（代码版本管理）</a:t>
            </a:r>
          </a:p>
          <a:p>
            <a:pPr>
              <a:spcAft>
                <a:spcPts val="1120"/>
              </a:spcAft>
              <a:defRPr sz="1400" b="0">
                <a:solidFill>
                  <a:srgbClr val="B0B8C8"/>
                </a:solidFill>
                <a:latin typeface="微软雅黑"/>
              </a:defRPr>
            </a:pPr>
            <a:r>
              <a:t>⑥ Python3 + pip（装各种库用的）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02920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D2FF"/>
                </a:solidFill>
                <a:latin typeface="微软雅黑"/>
              </a:defRPr>
            </a:pPr>
            <a:r>
              <a:t>💡 小白建议：直接用 fishros 一键安装脚本</a:t>
            </a:r>
            <a:br/>
            <a:r>
              <a:t>    wget http://fishros.com/install -O f.sh &amp;&amp; bash f.sh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280160"/>
            <a:ext cx="5303520" cy="50292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FF9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9600"/>
                </a:solidFill>
                <a:latin typeface="微软雅黑"/>
              </a:defRPr>
            </a:pPr>
            <a:r>
              <a:t>⚠️ 避坑指南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92024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40"/>
              </a:spcAft>
              <a:defRPr sz="1400" b="0">
                <a:solidFill>
                  <a:srgbClr val="B0B8C8"/>
                </a:solidFill>
                <a:latin typeface="微软雅黑"/>
              </a:defRPr>
            </a:pPr>
            <a:r>
              <a:t>❌ 不要用 Ubuntu 18.04（太旧，很多包不兼容）</a:t>
            </a:r>
          </a:p>
          <a:p>
            <a:pPr>
              <a:spcAft>
                <a:spcPts val="840"/>
              </a:spcAft>
              <a:defRPr sz="1400" b="0">
                <a:solidFill>
                  <a:srgbClr val="B0B8C8"/>
                </a:solidFill>
                <a:latin typeface="微软雅黑"/>
              </a:defRPr>
            </a:pPr>
            <a:r>
              <a:t>❌ 不要装错 ROS 版本（20.04 对应 Noetic）</a:t>
            </a:r>
          </a:p>
          <a:p>
            <a:pPr>
              <a:spcAft>
                <a:spcPts val="840"/>
              </a:spcAft>
              <a:defRPr sz="1400" b="0">
                <a:solidFill>
                  <a:srgbClr val="B0B8C8"/>
                </a:solidFill>
                <a:latin typeface="微软雅黑"/>
              </a:defRPr>
            </a:pPr>
            <a:r>
              <a:t>❌ 虚拟机性能差？开VT-x 和分配4G+内存</a:t>
            </a:r>
          </a:p>
          <a:p>
            <a:pPr>
              <a:spcAft>
                <a:spcPts val="840"/>
              </a:spcAft>
              <a:defRPr sz="1400" b="0">
                <a:solidFill>
                  <a:srgbClr val="B0B8C8"/>
                </a:solidFill>
                <a:latin typeface="微软雅黑"/>
              </a:defRPr>
            </a:pPr>
            <a:r>
              <a:t>✅ source 命令要加到 .bashrc 里！不然每次</a:t>
            </a:r>
          </a:p>
          <a:p>
            <a:pPr>
              <a:spcAft>
                <a:spcPts val="840"/>
              </a:spcAft>
              <a:defRPr sz="1400" b="0">
                <a:solidFill>
                  <a:srgbClr val="B0B8C8"/>
                </a:solidFill>
                <a:latin typeface="微软雅黑"/>
              </a:defRPr>
            </a:pPr>
            <a:r>
              <a:t>   开终端都要重新 source</a:t>
            </a:r>
          </a:p>
          <a:p>
            <a:pPr>
              <a:spcAft>
                <a:spcPts val="840"/>
              </a:spcAft>
              <a:defRPr sz="1400" b="0">
                <a:solidFill>
                  <a:srgbClr val="B0B8C8"/>
                </a:solidFill>
                <a:latin typeface="微软雅黑"/>
              </a:defRPr>
            </a:pPr>
            <a:r>
              <a:t>✅ 装完后跑 roscore 测试一下</a:t>
            </a:r>
          </a:p>
          <a:p>
            <a:pPr>
              <a:spcAft>
                <a:spcPts val="840"/>
              </a:spcAft>
              <a:defRPr sz="1400" b="0">
                <a:solidFill>
                  <a:srgbClr val="B0B8C8"/>
                </a:solidFill>
                <a:latin typeface="微软雅黑"/>
              </a:defRPr>
            </a:pPr>
            <a:r>
              <a:t>✅ Gazebo 第一次打开很慢是正常的（在下模型）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365760"/>
            <a:ext cx="1152144" cy="27432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Phase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3200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🤖 ROS 基础 — 学会让程序之间「说话」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274320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303520" cy="210312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14400" y="1463040"/>
            <a:ext cx="457200" cy="457200"/>
          </a:xfrm>
          <a:prstGeom prst="ellipse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48132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6FF"/>
                </a:solidFill>
                <a:latin typeface="微软雅黑"/>
              </a:defRPr>
            </a:pPr>
            <a:r>
              <a:t>节点 Node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05740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B0B8C8"/>
                </a:solidFill>
                <a:latin typeface="微软雅黑"/>
              </a:defRPr>
            </a:pPr>
            <a:r>
              <a:t>就像一个个独立的小程序</a:t>
            </a:r>
          </a:p>
          <a:p>
            <a:pPr>
              <a:spcAft>
                <a:spcPts val="700"/>
              </a:spcAft>
              <a:defRPr sz="1400" b="0">
                <a:solidFill>
                  <a:srgbClr val="B0B8C8"/>
                </a:solidFill>
                <a:latin typeface="微软雅黑"/>
              </a:defRPr>
            </a:pPr>
            <a:r>
              <a:t>比如：一个管摄像头，一个管电机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280160"/>
            <a:ext cx="5303520" cy="210312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583680" y="1463040"/>
            <a:ext cx="457200" cy="45720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8040" y="148132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微软雅黑"/>
              </a:defRPr>
            </a:pPr>
            <a:r>
              <a:t>话题 Topic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05740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B0B8C8"/>
                </a:solidFill>
                <a:latin typeface="微软雅黑"/>
              </a:defRPr>
            </a:pPr>
            <a:r>
              <a:t>节点之间传消息的'广播频道'</a:t>
            </a:r>
          </a:p>
          <a:p>
            <a:pPr>
              <a:spcAft>
                <a:spcPts val="700"/>
              </a:spcAft>
              <a:defRPr sz="1400" b="0">
                <a:solidFill>
                  <a:srgbClr val="B0B8C8"/>
                </a:solidFill>
                <a:latin typeface="微软雅黑"/>
              </a:defRPr>
            </a:pPr>
            <a:r>
              <a:t>发布者发，订阅者收，类似微信群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657600"/>
            <a:ext cx="5303520" cy="210312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14400" y="3840480"/>
            <a:ext cx="457200" cy="457200"/>
          </a:xfrm>
          <a:prstGeom prst="ellipse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85876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E696"/>
                </a:solidFill>
                <a:latin typeface="微软雅黑"/>
              </a:defRPr>
            </a:pPr>
            <a:r>
              <a:t>服务 Service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43484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B0B8C8"/>
                </a:solidFill>
                <a:latin typeface="微软雅黑"/>
              </a:defRPr>
            </a:pPr>
            <a:r>
              <a:t>一问一答的通信方式</a:t>
            </a:r>
          </a:p>
          <a:p>
            <a:pPr>
              <a:spcAft>
                <a:spcPts val="700"/>
              </a:spcAft>
              <a:defRPr sz="1400" b="0">
                <a:solidFill>
                  <a:srgbClr val="B0B8C8"/>
                </a:solidFill>
                <a:latin typeface="微软雅黑"/>
              </a:defRPr>
            </a:pPr>
            <a:r>
              <a:t>类似打电话：请求→等待→回复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3657600"/>
            <a:ext cx="5303520" cy="210312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F9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583680" y="3840480"/>
            <a:ext cx="457200" cy="457200"/>
          </a:xfrm>
          <a:prstGeom prst="ellipse">
            <a:avLst/>
          </a:prstGeom>
          <a:solidFill>
            <a:srgbClr val="FF9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78040" y="385876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9600"/>
                </a:solidFill>
                <a:latin typeface="微软雅黑"/>
              </a:defRPr>
            </a:pPr>
            <a:r>
              <a:t>Launch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443484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B0B8C8"/>
                </a:solidFill>
                <a:latin typeface="微软雅黑"/>
              </a:defRPr>
            </a:pPr>
            <a:r>
              <a:t>一键批量启动多个节点</a:t>
            </a:r>
          </a:p>
          <a:p>
            <a:pPr>
              <a:spcAft>
                <a:spcPts val="700"/>
              </a:spcAft>
              <a:defRPr sz="1400" b="0">
                <a:solidFill>
                  <a:srgbClr val="B0B8C8"/>
                </a:solidFill>
                <a:latin typeface="微软雅黑"/>
              </a:defRPr>
            </a:pPr>
            <a:r>
              <a:t>不用一个个手动 rosrun 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6035040"/>
            <a:ext cx="10698480" cy="59436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05840" y="610819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93D"/>
                </a:solidFill>
                <a:latin typeface="微软雅黑"/>
              </a:defRPr>
            </a:pPr>
            <a:r>
              <a:t>🎯 学习建议：先跑通 turtlesim 小乌龟教程！用键盘控制它走，理解 Topic 发布/订阅机制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365760"/>
            <a:ext cx="1152144" cy="274320"/>
          </a:xfrm>
          <a:prstGeom prst="round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Phase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3200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🗺️ SLAM建图与导航 — 让车认路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2743200" cy="36576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303520" cy="512064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E696"/>
                </a:solidFill>
                <a:latin typeface="微软雅黑"/>
              </a:defRPr>
            </a:pPr>
            <a:r>
              <a:t>🗺️ 第一步：SLAM 建图（15分）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什么是 SLAM？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28600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8"/>
                </a:solidFill>
                <a:latin typeface="微软雅黑"/>
              </a:defRPr>
            </a:pPr>
            <a:r>
              <a:t>= 车一边走，一边画地图（就像你探索一栋新楼）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346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推荐方案：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20040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B0B8C8"/>
                </a:solidFill>
                <a:latin typeface="微软雅黑"/>
              </a:defRPr>
            </a:pPr>
            <a:r>
              <a:t>▸ gmapping — 最简单，用2D激光雷达建图</a:t>
            </a:r>
          </a:p>
          <a:p>
            <a:pPr>
              <a:spcAft>
                <a:spcPts val="600"/>
              </a:spcAft>
              <a:defRPr sz="1300">
                <a:solidFill>
                  <a:srgbClr val="B0B8C8"/>
                </a:solidFill>
                <a:latin typeface="微软雅黑"/>
              </a:defRPr>
            </a:pPr>
            <a:r>
              <a:t>▸ cartographer — 谷歌出品，效果更好但配置复杂</a:t>
            </a:r>
          </a:p>
          <a:p>
            <a:pPr>
              <a:spcAft>
                <a:spcPts val="600"/>
              </a:spcAft>
              <a:defRPr sz="1300">
                <a:solidFill>
                  <a:srgbClr val="B0B8C8"/>
                </a:solidFill>
                <a:latin typeface="微软雅黑"/>
              </a:defRPr>
            </a:pPr>
            <a:r>
              <a:t>▸ 建议先用 gmapping 跑通，再看是否升级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6634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关键输出：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502920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8"/>
                </a:solidFill>
                <a:latin typeface="微软雅黑"/>
              </a:defRPr>
            </a:pPr>
            <a:r>
              <a:t>一张清晰的2D栅格地图（.pgm + .yaml文件）</a:t>
            </a:r>
            <a:br/>
            <a:r>
              <a:t>在 RViz 中看地图轮廓是否清晰准确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280160"/>
            <a:ext cx="5303520" cy="512064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8368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6FF"/>
                </a:solidFill>
                <a:latin typeface="微软雅黑"/>
              </a:defRPr>
            </a:pPr>
            <a:r>
              <a:t>🧭 第二步：自主导航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什么是导航？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28600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8"/>
                </a:solidFill>
                <a:latin typeface="微软雅黑"/>
              </a:defRPr>
            </a:pPr>
            <a:r>
              <a:t>= 有了地图，车自己找路去目的地（类似手机导航）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8346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核心组件：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20040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B0B8C8"/>
                </a:solidFill>
                <a:latin typeface="微软雅黑"/>
              </a:defRPr>
            </a:pPr>
            <a:r>
              <a:t>▸ move_base — ROS导航核心（给目标点，自动规划路径）</a:t>
            </a:r>
          </a:p>
          <a:p>
            <a:pPr>
              <a:spcAft>
                <a:spcPts val="600"/>
              </a:spcAft>
              <a:defRPr sz="1300">
                <a:solidFill>
                  <a:srgbClr val="B0B8C8"/>
                </a:solidFill>
                <a:latin typeface="微软雅黑"/>
              </a:defRPr>
            </a:pPr>
            <a:r>
              <a:t>▸ AMCL — 定位：车在地图上的位置</a:t>
            </a:r>
          </a:p>
          <a:p>
            <a:pPr>
              <a:spcAft>
                <a:spcPts val="600"/>
              </a:spcAft>
              <a:defRPr sz="1300">
                <a:solidFill>
                  <a:srgbClr val="B0B8C8"/>
                </a:solidFill>
                <a:latin typeface="微软雅黑"/>
              </a:defRPr>
            </a:pPr>
            <a:r>
              <a:t>▸ costmap — 代价地图：标记哪里能走哪里不能</a:t>
            </a:r>
          </a:p>
          <a:p>
            <a:pPr>
              <a:spcAft>
                <a:spcPts val="600"/>
              </a:spcAft>
              <a:defRPr sz="1300">
                <a:solidFill>
                  <a:srgbClr val="B0B8C8"/>
                </a:solidFill>
                <a:latin typeface="微软雅黑"/>
              </a:defRPr>
            </a:pPr>
            <a:r>
              <a:t>▸ local/global planner — 全局+局部路径规划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50292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调参要点：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539496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8"/>
                </a:solidFill>
                <a:latin typeface="微软雅黑"/>
              </a:defRPr>
            </a:pPr>
            <a:r>
              <a:t>膨胀半径、速度限制、恢复行为</a:t>
            </a:r>
            <a:br/>
            <a:r>
              <a:t>先确保不撞墙，再调速度和效率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365760"/>
            <a:ext cx="1152144" cy="274320"/>
          </a:xfrm>
          <a:prstGeom prst="round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Phase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3200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👁️ 计算机视觉 — 让车「看懂」世界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2743200" cy="36576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3566160" cy="50292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微软雅黑"/>
              </a:defRPr>
            </a:pPr>
            <a:r>
              <a:t>初级灾害标识识别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A8295"/>
                </a:solidFill>
                <a:latin typeface="微软雅黑"/>
              </a:defRPr>
            </a:pPr>
            <a:r>
              <a:t>走廊内识别5个标识</a:t>
            </a:r>
            <a:br/>
            <a:r>
              <a:t>（20分大项！）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6260" y="265176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B0B8C8"/>
                </a:solidFill>
                <a:latin typeface="微软雅黑"/>
              </a:defRPr>
            </a:pPr>
            <a:r>
              <a:t>▸ 自己设计标识图案（5个互不相同）</a:t>
            </a:r>
          </a:p>
          <a:p>
            <a:pPr>
              <a:spcAft>
                <a:spcPts val="600"/>
              </a:spcAft>
              <a:defRPr sz="1200">
                <a:solidFill>
                  <a:srgbClr val="B0B8C8"/>
                </a:solidFill>
                <a:latin typeface="微软雅黑"/>
              </a:defRPr>
            </a:pPr>
            <a:r>
              <a:t>▸ 用 OpenCV 模板匹配 / 颜色检测</a:t>
            </a:r>
          </a:p>
          <a:p>
            <a:pPr>
              <a:spcAft>
                <a:spcPts val="600"/>
              </a:spcAft>
              <a:defRPr sz="1200">
                <a:solidFill>
                  <a:srgbClr val="B0B8C8"/>
                </a:solidFill>
                <a:latin typeface="微软雅黑"/>
              </a:defRPr>
            </a:pPr>
            <a:r>
              <a:t>▸ 或用 YOLO 等深度学习模型</a:t>
            </a:r>
          </a:p>
          <a:p>
            <a:pPr>
              <a:spcAft>
                <a:spcPts val="600"/>
              </a:spcAft>
              <a:defRPr sz="1200">
                <a:solidFill>
                  <a:srgbClr val="B0B8C8"/>
                </a:solidFill>
                <a:latin typeface="微软雅黑"/>
              </a:defRPr>
            </a:pPr>
            <a:r>
              <a:t>▸ 识别后在终端打印结果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371600"/>
            <a:ext cx="3566160" cy="50292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A8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80560" y="14630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85CFF"/>
                </a:solidFill>
                <a:latin typeface="微软雅黑"/>
              </a:defRPr>
            </a:pPr>
            <a:r>
              <a:t>AprilTag 识别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9202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A8295"/>
                </a:solidFill>
                <a:latin typeface="微软雅黑"/>
              </a:defRPr>
            </a:pPr>
            <a:r>
              <a:t>核心区二维码定位</a:t>
            </a:r>
            <a:br/>
            <a:r>
              <a:t>（20分大项！）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65176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B0B8C8"/>
                </a:solidFill>
                <a:latin typeface="微软雅黑"/>
              </a:defRPr>
            </a:pPr>
            <a:r>
              <a:t>▸ 安装 apriltag_ros 包</a:t>
            </a:r>
          </a:p>
          <a:p>
            <a:pPr>
              <a:spcAft>
                <a:spcPts val="600"/>
              </a:spcAft>
              <a:defRPr sz="1200">
                <a:solidFill>
                  <a:srgbClr val="B0B8C8"/>
                </a:solidFill>
                <a:latin typeface="微软雅黑"/>
              </a:defRPr>
            </a:pPr>
            <a:r>
              <a:t>▸ 配置相机参数（内参矩阵）</a:t>
            </a:r>
          </a:p>
          <a:p>
            <a:pPr>
              <a:spcAft>
                <a:spcPts val="600"/>
              </a:spcAft>
              <a:defRPr sz="1200">
                <a:solidFill>
                  <a:srgbClr val="B0B8C8"/>
                </a:solidFill>
                <a:latin typeface="微软雅黑"/>
              </a:defRPr>
            </a:pPr>
            <a:r>
              <a:t>▸ 检测Tag的位姿（位置+方向）</a:t>
            </a:r>
          </a:p>
          <a:p>
            <a:pPr>
              <a:spcAft>
                <a:spcPts val="600"/>
              </a:spcAft>
              <a:defRPr sz="1200">
                <a:solidFill>
                  <a:srgbClr val="B0B8C8"/>
                </a:solidFill>
                <a:latin typeface="微软雅黑"/>
              </a:defRPr>
            </a:pPr>
            <a:r>
              <a:t>▸ 将结果转为 RViz Marker 显示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371600"/>
            <a:ext cx="3566160" cy="50292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21040" y="14630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696"/>
                </a:solidFill>
                <a:latin typeface="微软雅黑"/>
              </a:defRPr>
            </a:pPr>
            <a:r>
              <a:t>综合视觉管线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19202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A8295"/>
                </a:solidFill>
                <a:latin typeface="微软雅黑"/>
              </a:defRPr>
            </a:pPr>
            <a:r>
              <a:t>把所有视觉串起来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65176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B0B8C8"/>
                </a:solidFill>
                <a:latin typeface="微软雅黑"/>
              </a:defRPr>
            </a:pPr>
            <a:r>
              <a:rPr dirty="0"/>
              <a:t>▸ ROS </a:t>
            </a:r>
            <a:r>
              <a:rPr dirty="0" err="1"/>
              <a:t>image_transport</a:t>
            </a:r>
            <a:r>
              <a:rPr dirty="0"/>
              <a:t> </a:t>
            </a:r>
            <a:r>
              <a:rPr dirty="0" err="1"/>
              <a:t>订阅相机话题</a:t>
            </a:r>
            <a:endParaRPr dirty="0"/>
          </a:p>
          <a:p>
            <a:pPr>
              <a:spcAft>
                <a:spcPts val="600"/>
              </a:spcAft>
              <a:defRPr sz="1200">
                <a:solidFill>
                  <a:srgbClr val="B0B8C8"/>
                </a:solidFill>
                <a:latin typeface="微软雅黑"/>
              </a:defRPr>
            </a:pPr>
            <a:r>
              <a:rPr dirty="0"/>
              <a:t>▸ </a:t>
            </a:r>
            <a:r>
              <a:rPr dirty="0" err="1"/>
              <a:t>cv_bridge：ROS图像↔OpenCV转换</a:t>
            </a:r>
            <a:endParaRPr dirty="0"/>
          </a:p>
          <a:p>
            <a:pPr>
              <a:spcAft>
                <a:spcPts val="600"/>
              </a:spcAft>
              <a:defRPr sz="1200">
                <a:solidFill>
                  <a:srgbClr val="B0B8C8"/>
                </a:solidFill>
                <a:latin typeface="微软雅黑"/>
              </a:defRPr>
            </a:pPr>
            <a:r>
              <a:rPr dirty="0"/>
              <a:t>▸ </a:t>
            </a:r>
            <a:r>
              <a:rPr dirty="0" err="1"/>
              <a:t>处理后发布检测结果到新话题</a:t>
            </a:r>
            <a:endParaRPr dirty="0"/>
          </a:p>
          <a:p>
            <a:pPr>
              <a:spcAft>
                <a:spcPts val="600"/>
              </a:spcAft>
              <a:defRPr sz="1200">
                <a:solidFill>
                  <a:srgbClr val="B0B8C8"/>
                </a:solidFill>
                <a:latin typeface="微软雅黑"/>
              </a:defRPr>
            </a:pPr>
            <a:r>
              <a:rPr dirty="0"/>
              <a:t>▸ </a:t>
            </a:r>
            <a:r>
              <a:rPr dirty="0" err="1"/>
              <a:t>注意帧率！别让视觉拖慢整体</a:t>
            </a:r>
            <a:endParaRPr dirty="0"/>
          </a:p>
        </p:txBody>
      </p:sp>
      <p:sp>
        <p:nvSpPr>
          <p:cNvPr id="17" name="Rounded Rectangle 16"/>
          <p:cNvSpPr/>
          <p:nvPr/>
        </p:nvSpPr>
        <p:spPr>
          <a:xfrm>
            <a:off x="731520" y="6400800"/>
            <a:ext cx="10698480" cy="3200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6400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D93D"/>
                </a:solidFill>
                <a:latin typeface="微软雅黑"/>
              </a:defRPr>
            </a:pPr>
            <a:r>
              <a:t>💡 如果有深度学习基础，推荐用 YOLOv5/v8 做标识识别，又快又准！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365760"/>
            <a:ext cx="1152144" cy="274320"/>
          </a:xfrm>
          <a:prstGeom prst="roundRect">
            <a:avLst/>
          </a:prstGeom>
          <a:solidFill>
            <a:srgbClr val="FF9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Phase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3200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🔧 系统集成 — 把所有模块拼成完整系统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2743200" cy="36576"/>
          </a:xfrm>
          <a:prstGeom prst="rect">
            <a:avLst/>
          </a:prstGeom>
          <a:solidFill>
            <a:srgbClr val="FF9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3383280" cy="512064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FF"/>
                </a:solidFill>
                <a:latin typeface="微软雅黑"/>
              </a:defRPr>
            </a:pPr>
            <a:r>
              <a:t>🏗️ Gazebo场景搭建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B0B8C8"/>
                </a:solidFill>
                <a:latin typeface="微软雅黑"/>
              </a:defRPr>
            </a:pPr>
            <a:r>
              <a:t>▸ 用 Building Editor 搭厂区</a:t>
            </a:r>
          </a:p>
          <a:p>
            <a:pPr>
              <a:spcAft>
                <a:spcPts val="600"/>
              </a:spcAft>
              <a:defRPr sz="1200">
                <a:solidFill>
                  <a:srgbClr val="B0B8C8"/>
                </a:solidFill>
                <a:latin typeface="微软雅黑"/>
              </a:defRPr>
            </a:pPr>
            <a:r>
              <a:t>▸ 走廊 + 核心区 + 障碍物</a:t>
            </a:r>
          </a:p>
          <a:p>
            <a:pPr>
              <a:spcAft>
                <a:spcPts val="600"/>
              </a:spcAft>
              <a:defRPr sz="1200">
                <a:solidFill>
                  <a:srgbClr val="B0B8C8"/>
                </a:solidFill>
                <a:latin typeface="微软雅黑"/>
              </a:defRPr>
            </a:pPr>
            <a:r>
              <a:t>▸ 放置灾害标识模型</a:t>
            </a:r>
          </a:p>
          <a:p>
            <a:pPr>
              <a:spcAft>
                <a:spcPts val="600"/>
              </a:spcAft>
              <a:defRPr sz="1200">
                <a:solidFill>
                  <a:srgbClr val="B0B8C8"/>
                </a:solidFill>
                <a:latin typeface="微软雅黑"/>
              </a:defRPr>
            </a:pPr>
            <a:r>
              <a:t>▸ 添加 AprilTag 模型</a:t>
            </a:r>
          </a:p>
          <a:p>
            <a:pPr>
              <a:spcAft>
                <a:spcPts val="600"/>
              </a:spcAft>
              <a:defRPr sz="1200">
                <a:solidFill>
                  <a:srgbClr val="B0B8C8"/>
                </a:solidFill>
                <a:latin typeface="微软雅黑"/>
              </a:defRPr>
            </a:pPr>
            <a:r>
              <a:t>▸ 配置物理引擎参数</a:t>
            </a:r>
          </a:p>
          <a:p>
            <a:pPr>
              <a:spcAft>
                <a:spcPts val="600"/>
              </a:spcAft>
              <a:defRPr sz="1200">
                <a:solidFill>
                  <a:srgbClr val="B0B8C8"/>
                </a:solidFill>
                <a:latin typeface="微软雅黑"/>
              </a:defRPr>
            </a:pPr>
            <a:r>
              <a:t>▸ 导出 .world 文件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280160"/>
            <a:ext cx="3383280" cy="512064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FF9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0" y="13716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9600"/>
                </a:solidFill>
                <a:latin typeface="微软雅黑"/>
              </a:defRPr>
            </a:pPr>
            <a:r>
              <a:t>💪 推障机构（20分！）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92024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B0B8C8"/>
                </a:solidFill>
                <a:latin typeface="微软雅黑"/>
              </a:defRPr>
            </a:pPr>
            <a:r>
              <a:t>▸ 给车装个推板 (URDF建模)</a:t>
            </a:r>
          </a:p>
          <a:p>
            <a:pPr>
              <a:spcAft>
                <a:spcPts val="600"/>
              </a:spcAft>
              <a:defRPr sz="1200">
                <a:solidFill>
                  <a:srgbClr val="B0B8C8"/>
                </a:solidFill>
                <a:latin typeface="微软雅黑"/>
              </a:defRPr>
            </a:pPr>
            <a:r>
              <a:t>▸ 碰撞检测 + 物理作用力</a:t>
            </a:r>
          </a:p>
          <a:p>
            <a:pPr>
              <a:spcAft>
                <a:spcPts val="600"/>
              </a:spcAft>
              <a:defRPr sz="1200">
                <a:solidFill>
                  <a:srgbClr val="B0B8C8"/>
                </a:solidFill>
                <a:latin typeface="微软雅黑"/>
              </a:defRPr>
            </a:pPr>
            <a:r>
              <a:t>▸ Gazebo 中调整摩擦力</a:t>
            </a:r>
          </a:p>
          <a:p>
            <a:pPr>
              <a:spcAft>
                <a:spcPts val="600"/>
              </a:spcAft>
              <a:defRPr sz="1200">
                <a:solidFill>
                  <a:srgbClr val="B0B8C8"/>
                </a:solidFill>
                <a:latin typeface="微软雅黑"/>
              </a:defRPr>
            </a:pPr>
            <a:r>
              <a:t>▸ 推障策略：对准→加速→推</a:t>
            </a:r>
          </a:p>
          <a:p>
            <a:pPr>
              <a:spcAft>
                <a:spcPts val="600"/>
              </a:spcAft>
              <a:defRPr sz="1200">
                <a:solidFill>
                  <a:srgbClr val="B0B8C8"/>
                </a:solidFill>
                <a:latin typeface="微软雅黑"/>
              </a:defRPr>
            </a:pPr>
            <a:r>
              <a:t>▸ 注意：不能穿模！</a:t>
            </a:r>
          </a:p>
          <a:p>
            <a:pPr>
              <a:spcAft>
                <a:spcPts val="600"/>
              </a:spcAft>
              <a:defRPr sz="1200">
                <a:solidFill>
                  <a:srgbClr val="B0B8C8"/>
                </a:solidFill>
                <a:latin typeface="微软雅黑"/>
              </a:defRPr>
            </a:pPr>
            <a:r>
              <a:t>▸ 推障机构越创新分越高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280160"/>
            <a:ext cx="3383280" cy="512064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0" y="13716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696"/>
                </a:solidFill>
                <a:latin typeface="微软雅黑"/>
              </a:defRPr>
            </a:pPr>
            <a:r>
              <a:t>🔗 全流程串联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92024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B0B8C8"/>
                </a:solidFill>
                <a:latin typeface="微软雅黑"/>
              </a:defRPr>
            </a:pPr>
            <a:r>
              <a:t>▸ 编写 start.sh 一键启动</a:t>
            </a:r>
          </a:p>
          <a:p>
            <a:pPr>
              <a:spcAft>
                <a:spcPts val="600"/>
              </a:spcAft>
              <a:defRPr sz="1200">
                <a:solidFill>
                  <a:srgbClr val="B0B8C8"/>
                </a:solidFill>
                <a:latin typeface="微软雅黑"/>
              </a:defRPr>
            </a:pPr>
            <a:r>
              <a:t>▸ 状态机管理任务切换：</a:t>
            </a:r>
          </a:p>
          <a:p>
            <a:pPr>
              <a:spcAft>
                <a:spcPts val="600"/>
              </a:spcAft>
              <a:defRPr sz="1200">
                <a:solidFill>
                  <a:srgbClr val="B0B8C8"/>
                </a:solidFill>
                <a:latin typeface="微软雅黑"/>
              </a:defRPr>
            </a:pPr>
            <a:r>
              <a:t>▸   搜寻→清障→标定→返回</a:t>
            </a:r>
          </a:p>
          <a:p>
            <a:pPr>
              <a:spcAft>
                <a:spcPts val="600"/>
              </a:spcAft>
              <a:defRPr sz="1200">
                <a:solidFill>
                  <a:srgbClr val="B0B8C8"/>
                </a:solidFill>
                <a:latin typeface="微软雅黑"/>
              </a:defRPr>
            </a:pPr>
            <a:r>
              <a:t>▸ 所有参数放 .yaml 文件</a:t>
            </a:r>
          </a:p>
          <a:p>
            <a:pPr>
              <a:spcAft>
                <a:spcPts val="600"/>
              </a:spcAft>
              <a:defRPr sz="1200">
                <a:solidFill>
                  <a:srgbClr val="B0B8C8"/>
                </a:solidFill>
                <a:latin typeface="微软雅黑"/>
              </a:defRPr>
            </a:pPr>
            <a:r>
              <a:t>▸ 严禁硬编码导航目标点！</a:t>
            </a:r>
          </a:p>
          <a:p>
            <a:pPr>
              <a:spcAft>
                <a:spcPts val="600"/>
              </a:spcAft>
              <a:defRPr sz="1200">
                <a:solidFill>
                  <a:srgbClr val="B0B8C8"/>
                </a:solidFill>
                <a:latin typeface="微软雅黑"/>
              </a:defRPr>
            </a:pPr>
            <a:r>
              <a:t>▸ 反复测试稳定性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6400800"/>
            <a:ext cx="10698480" cy="3200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6400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4D6A"/>
                </a:solidFill>
                <a:latin typeface="微软雅黑"/>
              </a:defRPr>
            </a:pPr>
            <a:r>
              <a:t>⚠️ 比赛规则明确要求：代码中严禁硬编码！导航目标必须走 move_base，参数用 yaml 配置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365760"/>
            <a:ext cx="1152144" cy="274320"/>
          </a:xfrm>
          <a:prstGeom prst="roundRect">
            <a:avLst/>
          </a:prstGeom>
          <a:solidFill>
            <a:srgbClr val="FF4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微软雅黑"/>
              </a:defRPr>
            </a:pPr>
            <a:r>
              <a:t>Phase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3200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🎤 答辩准备 — 别光会做，还得会讲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2743200" cy="36576"/>
          </a:xfrm>
          <a:prstGeom prst="rect">
            <a:avLst/>
          </a:prstGeom>
          <a:solidFill>
            <a:srgbClr val="FF4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3566160" cy="36576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FF"/>
                </a:solidFill>
                <a:latin typeface="微软雅黑"/>
              </a:defRPr>
            </a:pPr>
            <a:r>
              <a:t>📦 代码包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A8295"/>
                </a:solidFill>
                <a:latin typeface="微软雅黑"/>
              </a:defRPr>
            </a:pPr>
            <a:r>
              <a:t>zip格式提交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B0B8C8"/>
                </a:solidFill>
                <a:latin typeface="微软雅黑"/>
              </a:defRPr>
            </a:pPr>
            <a:r>
              <a:t>▸ 包含 start.sh 一键启动脚本</a:t>
            </a:r>
          </a:p>
          <a:p>
            <a:pPr>
              <a:spcAft>
                <a:spcPts val="600"/>
              </a:spcAft>
              <a:defRPr sz="1200">
                <a:solidFill>
                  <a:srgbClr val="B0B8C8"/>
                </a:solidFill>
                <a:latin typeface="微软雅黑"/>
              </a:defRPr>
            </a:pPr>
            <a:r>
              <a:t>▸ 参数整合到 .yaml 配置文件</a:t>
            </a:r>
          </a:p>
          <a:p>
            <a:pPr>
              <a:spcAft>
                <a:spcPts val="600"/>
              </a:spcAft>
              <a:defRPr sz="1200">
                <a:solidFill>
                  <a:srgbClr val="B0B8C8"/>
                </a:solidFill>
                <a:latin typeface="微软雅黑"/>
              </a:defRPr>
            </a:pPr>
            <a:r>
              <a:t>▸ 代码结构清晰，有注释</a:t>
            </a:r>
          </a:p>
          <a:p>
            <a:pPr>
              <a:spcAft>
                <a:spcPts val="600"/>
              </a:spcAft>
              <a:defRPr sz="1200">
                <a:solidFill>
                  <a:srgbClr val="B0B8C8"/>
                </a:solidFill>
                <a:latin typeface="微软雅黑"/>
              </a:defRPr>
            </a:pPr>
            <a:r>
              <a:t>▸ 不要上传无关文件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371600"/>
            <a:ext cx="3566160" cy="36576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80560" y="14630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微软雅黑"/>
              </a:defRPr>
            </a:pPr>
            <a:r>
              <a:t>🎬 演示视频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9202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A8295"/>
                </a:solidFill>
                <a:latin typeface="微软雅黑"/>
              </a:defRPr>
            </a:pPr>
            <a:r>
              <a:t>mp4格式，≤5分钟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286000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B0B8C8"/>
                </a:solidFill>
                <a:latin typeface="微软雅黑"/>
              </a:defRPr>
            </a:pPr>
            <a:r>
              <a:t>▸ 未剪辑的一键运行全流程录屏</a:t>
            </a:r>
          </a:p>
          <a:p>
            <a:pPr>
              <a:spcAft>
                <a:spcPts val="600"/>
              </a:spcAft>
              <a:defRPr sz="1200">
                <a:solidFill>
                  <a:srgbClr val="B0B8C8"/>
                </a:solidFill>
                <a:latin typeface="微软雅黑"/>
              </a:defRPr>
            </a:pPr>
            <a:r>
              <a:t>▸ 带实时系统时间</a:t>
            </a:r>
          </a:p>
          <a:p>
            <a:pPr>
              <a:spcAft>
                <a:spcPts val="600"/>
              </a:spcAft>
              <a:defRPr sz="1200">
                <a:solidFill>
                  <a:srgbClr val="B0B8C8"/>
                </a:solidFill>
                <a:latin typeface="微软雅黑"/>
              </a:defRPr>
            </a:pPr>
            <a:r>
              <a:t>▸ 左右分屏：Gazebo + RViz</a:t>
            </a:r>
          </a:p>
          <a:p>
            <a:pPr>
              <a:spcAft>
                <a:spcPts val="600"/>
              </a:spcAft>
              <a:defRPr sz="1200">
                <a:solidFill>
                  <a:srgbClr val="B0B8C8"/>
                </a:solidFill>
                <a:latin typeface="微软雅黑"/>
              </a:defRPr>
            </a:pPr>
            <a:r>
              <a:t>▸ 可倍速但要标注倍速数值</a:t>
            </a:r>
          </a:p>
          <a:p>
            <a:pPr>
              <a:spcAft>
                <a:spcPts val="600"/>
              </a:spcAft>
              <a:defRPr sz="1200">
                <a:solidFill>
                  <a:srgbClr val="B0B8C8"/>
                </a:solidFill>
                <a:latin typeface="微软雅黑"/>
              </a:defRPr>
            </a:pPr>
            <a:r>
              <a:t>▸ 可配音讲解技术方案</a:t>
            </a:r>
          </a:p>
          <a:p>
            <a:pPr>
              <a:spcAft>
                <a:spcPts val="600"/>
              </a:spcAft>
              <a:defRPr sz="1200">
                <a:solidFill>
                  <a:srgbClr val="B0B8C8"/>
                </a:solidFill>
                <a:latin typeface="微软雅黑"/>
              </a:defRPr>
            </a:pPr>
            <a:r>
              <a:t>▸ 文件大小 ≤ 100MB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371600"/>
            <a:ext cx="3566160" cy="36576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21040" y="14630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696"/>
                </a:solidFill>
                <a:latin typeface="微软雅黑"/>
              </a:defRPr>
            </a:pPr>
            <a:r>
              <a:t>📄 技术文档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19202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A8295"/>
                </a:solidFill>
                <a:latin typeface="微软雅黑"/>
              </a:defRPr>
            </a:pPr>
            <a:r>
              <a:t>pdf格式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286000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B0B8C8"/>
                </a:solidFill>
                <a:latin typeface="微软雅黑"/>
              </a:defRPr>
            </a:pPr>
            <a:r>
              <a:t>▸ 《无人车仿真组技术实施报告》</a:t>
            </a:r>
          </a:p>
          <a:p>
            <a:pPr>
              <a:spcAft>
                <a:spcPts val="600"/>
              </a:spcAft>
              <a:defRPr sz="1200">
                <a:solidFill>
                  <a:srgbClr val="B0B8C8"/>
                </a:solidFill>
                <a:latin typeface="微软雅黑"/>
              </a:defRPr>
            </a:pPr>
            <a:r>
              <a:t>▸ 清晰阐述设计方案</a:t>
            </a:r>
          </a:p>
          <a:p>
            <a:pPr>
              <a:spcAft>
                <a:spcPts val="600"/>
              </a:spcAft>
              <a:defRPr sz="1200">
                <a:solidFill>
                  <a:srgbClr val="B0B8C8"/>
                </a:solidFill>
                <a:latin typeface="微软雅黑"/>
              </a:defRPr>
            </a:pPr>
            <a:r>
              <a:t>▸ 推障机构设计的精妙性</a:t>
            </a:r>
          </a:p>
          <a:p>
            <a:pPr>
              <a:spcAft>
                <a:spcPts val="600"/>
              </a:spcAft>
              <a:defRPr sz="1200">
                <a:solidFill>
                  <a:srgbClr val="B0B8C8"/>
                </a:solidFill>
                <a:latin typeface="微软雅黑"/>
              </a:defRPr>
            </a:pPr>
            <a:r>
              <a:t>▸ 视觉算法的创新性</a:t>
            </a:r>
          </a:p>
          <a:p>
            <a:pPr>
              <a:spcAft>
                <a:spcPts val="600"/>
              </a:spcAft>
              <a:defRPr sz="1200">
                <a:solidFill>
                  <a:srgbClr val="B0B8C8"/>
                </a:solidFill>
                <a:latin typeface="微软雅黑"/>
              </a:defRPr>
            </a:pPr>
            <a:r>
              <a:t>▸ 导航避障的策略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303520"/>
            <a:ext cx="11247120" cy="13716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F4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53949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4D6A"/>
                </a:solidFill>
                <a:latin typeface="微软雅黑"/>
              </a:defRPr>
            </a:pPr>
            <a:r>
              <a:t>🚨 答辩注意事项（20分！）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8064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B0B8C8"/>
                </a:solidFill>
                <a:latin typeface="微软雅黑"/>
              </a:defRPr>
            </a:pPr>
            <a:r>
              <a:t>▸ 展示限时 8 分钟，超时 10 秒以上每 10 秒扣 1 分（上限扣 5 分）</a:t>
            </a:r>
          </a:p>
          <a:p>
            <a:pPr>
              <a:spcAft>
                <a:spcPts val="600"/>
              </a:spcAft>
              <a:defRPr sz="1200">
                <a:solidFill>
                  <a:srgbClr val="B0B8C8"/>
                </a:solidFill>
                <a:latin typeface="微软雅黑"/>
              </a:defRPr>
            </a:pPr>
            <a:r>
              <a:t>▸ 方案同质化会被扣 10~15 分！必须有自己的创新点</a:t>
            </a:r>
          </a:p>
          <a:p>
            <a:pPr>
              <a:spcAft>
                <a:spcPts val="600"/>
              </a:spcAft>
              <a:defRPr sz="1200">
                <a:solidFill>
                  <a:srgbClr val="B0B8C8"/>
                </a:solidFill>
                <a:latin typeface="微软雅黑"/>
              </a:defRPr>
            </a:pPr>
            <a:r>
              <a:t>▸ 专家会根据环境逼真度、推障精妙性、算法创新度打分</a:t>
            </a:r>
          </a:p>
          <a:p>
            <a:pPr>
              <a:spcAft>
                <a:spcPts val="600"/>
              </a:spcAft>
              <a:defRPr sz="1200">
                <a:solidFill>
                  <a:srgbClr val="B0B8C8"/>
                </a:solidFill>
                <a:latin typeface="微软雅黑"/>
              </a:defRPr>
            </a:pPr>
            <a:r>
              <a:t>▸ 评审专家可能会现场提问，要准备常见Q&amp;A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📚 学习资源推荐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743200" cy="36576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5486400" cy="237744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FF"/>
                </a:solidFill>
                <a:latin typeface="微软雅黑"/>
              </a:defRPr>
            </a:pPr>
            <a:r>
              <a:t>📖 ROS 入门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B0B8C8"/>
                </a:solidFill>
                <a:latin typeface="微软雅黑"/>
              </a:defRPr>
            </a:pPr>
            <a:r>
              <a:t>▸ 《ROS机器人开发实践》— 胡春旭（中文入门首选）</a:t>
            </a:r>
          </a:p>
          <a:p>
            <a:pPr>
              <a:spcAft>
                <a:spcPts val="600"/>
              </a:spcAft>
              <a:defRPr sz="1200">
                <a:solidFill>
                  <a:srgbClr val="B0B8C8"/>
                </a:solidFill>
                <a:latin typeface="微软雅黑"/>
              </a:defRPr>
            </a:pPr>
            <a:r>
              <a:t>▸ ROS Wiki 官方教程（wiki.ros.org）</a:t>
            </a:r>
          </a:p>
          <a:p>
            <a:pPr>
              <a:spcAft>
                <a:spcPts val="600"/>
              </a:spcAft>
              <a:defRPr sz="1200">
                <a:solidFill>
                  <a:srgbClr val="B0B8C8"/>
                </a:solidFill>
                <a:latin typeface="微软雅黑"/>
              </a:defRPr>
            </a:pPr>
            <a:r>
              <a:t>▸ B站 古月居 ROS 入门教程</a:t>
            </a:r>
          </a:p>
          <a:p>
            <a:pPr>
              <a:spcAft>
                <a:spcPts val="600"/>
              </a:spcAft>
              <a:defRPr sz="1200">
                <a:solidFill>
                  <a:srgbClr val="B0B8C8"/>
                </a:solidFill>
                <a:latin typeface="微软雅黑"/>
              </a:defRPr>
            </a:pPr>
            <a:r>
              <a:t>▸ 赵虚左《ROS机器人编程》视频课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486400" cy="237744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96"/>
                </a:solidFill>
                <a:latin typeface="微软雅黑"/>
              </a:defRPr>
            </a:pPr>
            <a:r>
              <a:t>📖 Gazebo 仿真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7830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B0B8C8"/>
                </a:solidFill>
                <a:latin typeface="微软雅黑"/>
              </a:defRPr>
            </a:pPr>
            <a:r>
              <a:t>▸ Gazebo 官方教程（gazebosim.org/tutorials）</a:t>
            </a:r>
          </a:p>
          <a:p>
            <a:pPr>
              <a:spcAft>
                <a:spcPts val="600"/>
              </a:spcAft>
              <a:defRPr sz="1200">
                <a:solidFill>
                  <a:srgbClr val="B0B8C8"/>
                </a:solidFill>
                <a:latin typeface="微软雅黑"/>
              </a:defRPr>
            </a:pPr>
            <a:r>
              <a:t>▸ B站 搜索 'Gazebo仿真' 有大量中文教程</a:t>
            </a:r>
          </a:p>
          <a:p>
            <a:pPr>
              <a:spcAft>
                <a:spcPts val="600"/>
              </a:spcAft>
              <a:defRPr sz="1200">
                <a:solidFill>
                  <a:srgbClr val="B0B8C8"/>
                </a:solidFill>
                <a:latin typeface="微软雅黑"/>
              </a:defRPr>
            </a:pPr>
            <a:r>
              <a:t>▸ The Construct 在线练习平台（免费课程）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931920"/>
            <a:ext cx="5486400" cy="237744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A8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40233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85CFF"/>
                </a:solidFill>
                <a:latin typeface="微软雅黑"/>
              </a:defRPr>
            </a:pPr>
            <a:r>
              <a:t>📖 计算机视觉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43484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B0B8C8"/>
                </a:solidFill>
                <a:latin typeface="微软雅黑"/>
              </a:defRPr>
            </a:pPr>
            <a:r>
              <a:t>▸ OpenCV 官方文档 + B站教程</a:t>
            </a:r>
          </a:p>
          <a:p>
            <a:pPr>
              <a:spcAft>
                <a:spcPts val="600"/>
              </a:spcAft>
              <a:defRPr sz="1200">
                <a:solidFill>
                  <a:srgbClr val="B0B8C8"/>
                </a:solidFill>
                <a:latin typeface="微软雅黑"/>
              </a:defRPr>
            </a:pPr>
            <a:r>
              <a:t>▸ AprilTag ROS包官方文档</a:t>
            </a:r>
          </a:p>
          <a:p>
            <a:pPr>
              <a:spcAft>
                <a:spcPts val="600"/>
              </a:spcAft>
              <a:defRPr sz="1200">
                <a:solidFill>
                  <a:srgbClr val="B0B8C8"/>
                </a:solidFill>
                <a:latin typeface="微软雅黑"/>
              </a:defRPr>
            </a:pPr>
            <a:r>
              <a:t>▸ YOLO 系列教程（ultralytics.com）</a:t>
            </a:r>
          </a:p>
          <a:p>
            <a:pPr>
              <a:spcAft>
                <a:spcPts val="600"/>
              </a:spcAft>
              <a:defRPr sz="1200">
                <a:solidFill>
                  <a:srgbClr val="B0B8C8"/>
                </a:solidFill>
                <a:latin typeface="微软雅黑"/>
              </a:defRPr>
            </a:pPr>
            <a:r>
              <a:t>▸ B站 'OpenCV Python' 系列课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931920"/>
            <a:ext cx="5486400" cy="237744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FF9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40233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600"/>
                </a:solidFill>
                <a:latin typeface="微软雅黑"/>
              </a:defRPr>
            </a:pPr>
            <a:r>
              <a:t>📖 导航 &amp; SLAM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43484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B0B8C8"/>
                </a:solidFill>
                <a:latin typeface="微软雅黑"/>
              </a:defRPr>
            </a:pPr>
            <a:r>
              <a:rPr dirty="0"/>
              <a:t>▸ ROS Navigation </a:t>
            </a:r>
            <a:r>
              <a:rPr dirty="0" err="1"/>
              <a:t>Wiki（重点看</a:t>
            </a:r>
            <a:r>
              <a:rPr dirty="0"/>
              <a:t> </a:t>
            </a:r>
            <a:r>
              <a:rPr dirty="0" err="1"/>
              <a:t>move_base</a:t>
            </a:r>
            <a:r>
              <a:rPr dirty="0"/>
              <a:t>）</a:t>
            </a:r>
          </a:p>
          <a:p>
            <a:pPr>
              <a:spcAft>
                <a:spcPts val="600"/>
              </a:spcAft>
              <a:defRPr sz="1200">
                <a:solidFill>
                  <a:srgbClr val="B0B8C8"/>
                </a:solidFill>
                <a:latin typeface="微软雅黑"/>
              </a:defRPr>
            </a:pPr>
            <a:r>
              <a:rPr dirty="0"/>
              <a:t>▸ </a:t>
            </a:r>
            <a:r>
              <a:rPr dirty="0" err="1"/>
              <a:t>gmapping</a:t>
            </a:r>
            <a:r>
              <a:rPr dirty="0"/>
              <a:t> / cartographer </a:t>
            </a:r>
            <a:r>
              <a:rPr dirty="0" err="1"/>
              <a:t>配置文档</a:t>
            </a:r>
            <a:endParaRPr dirty="0"/>
          </a:p>
          <a:p>
            <a:pPr>
              <a:spcAft>
                <a:spcPts val="600"/>
              </a:spcAft>
              <a:defRPr sz="1200">
                <a:solidFill>
                  <a:srgbClr val="B0B8C8"/>
                </a:solidFill>
                <a:latin typeface="微软雅黑"/>
              </a:defRPr>
            </a:pPr>
            <a:r>
              <a:rPr dirty="0"/>
              <a:t>▸ </a:t>
            </a:r>
            <a:r>
              <a:rPr dirty="0" err="1"/>
              <a:t>B站</a:t>
            </a:r>
            <a:r>
              <a:rPr dirty="0"/>
              <a:t> '</a:t>
            </a:r>
            <a:r>
              <a:rPr dirty="0" err="1"/>
              <a:t>ROS导航</a:t>
            </a:r>
            <a:r>
              <a:rPr dirty="0"/>
              <a:t>' </a:t>
            </a:r>
            <a:r>
              <a:rPr dirty="0" err="1"/>
              <a:t>相关视频</a:t>
            </a:r>
            <a:endParaRPr dirty="0"/>
          </a:p>
          <a:p>
            <a:pPr>
              <a:spcAft>
                <a:spcPts val="600"/>
              </a:spcAft>
              <a:defRPr sz="1200">
                <a:solidFill>
                  <a:srgbClr val="B0B8C8"/>
                </a:solidFill>
                <a:latin typeface="微软雅黑"/>
              </a:defRPr>
            </a:pPr>
            <a:r>
              <a:rPr dirty="0"/>
              <a:t>▸ 《</a:t>
            </a:r>
            <a:r>
              <a:rPr dirty="0" err="1"/>
              <a:t>概率机器人</a:t>
            </a:r>
            <a:r>
              <a:rPr dirty="0"/>
              <a:t>》— </a:t>
            </a:r>
            <a:r>
              <a:rPr dirty="0" err="1"/>
              <a:t>想深入理解可以看看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📅 时间规划建议 — 8周冲刺计划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743200" cy="36576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698480" cy="576072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14400" y="1426464"/>
            <a:ext cx="1097280" cy="274320"/>
          </a:xfrm>
          <a:prstGeom prst="round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第1周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13716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环境搭建 + ROS入门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139903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8"/>
                </a:solidFill>
                <a:latin typeface="微软雅黑"/>
              </a:defRPr>
            </a:pPr>
            <a:r>
              <a:t>装系统、装ROS、跑通小乌龟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0" y="1463040"/>
            <a:ext cx="457200" cy="201168"/>
          </a:xfrm>
          <a:prstGeom prst="round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947672"/>
            <a:ext cx="10698480" cy="576072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14400" y="2093976"/>
            <a:ext cx="1097280" cy="274320"/>
          </a:xfrm>
          <a:prstGeom prst="round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第2周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203911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ROS 进阶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2066544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8"/>
                </a:solidFill>
                <a:latin typeface="微软雅黑"/>
              </a:defRPr>
            </a:pPr>
            <a:r>
              <a:t>Topic/Service/Launch 熟练使用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0" y="2130552"/>
            <a:ext cx="457200" cy="201168"/>
          </a:xfrm>
          <a:prstGeom prst="round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31520" y="2615184"/>
            <a:ext cx="10698480" cy="576072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914400" y="2761488"/>
            <a:ext cx="1097280" cy="274320"/>
          </a:xfrm>
          <a:prstGeom prst="round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第3周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2706624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SLAM 建图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273405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8"/>
                </a:solidFill>
                <a:latin typeface="微软雅黑"/>
              </a:defRPr>
            </a:pPr>
            <a:r>
              <a:t>gmapping建图 + 地图保存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0" y="2798064"/>
            <a:ext cx="457200" cy="201168"/>
          </a:xfrm>
          <a:prstGeom prst="round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31520" y="3282696"/>
            <a:ext cx="10698480" cy="576072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14400" y="3429000"/>
            <a:ext cx="1097280" cy="274320"/>
          </a:xfrm>
          <a:prstGeom prst="round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第4周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3374136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自主导航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340156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8"/>
                </a:solidFill>
                <a:latin typeface="微软雅黑"/>
              </a:defRPr>
            </a:pPr>
            <a:r>
              <a:t>move_base导航 + 避障调参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972800" y="3465576"/>
            <a:ext cx="457200" cy="201168"/>
          </a:xfrm>
          <a:prstGeom prst="round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731520" y="3950208"/>
            <a:ext cx="10698480" cy="576072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A8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914400" y="4096512"/>
            <a:ext cx="1097280" cy="274320"/>
          </a:xfrm>
          <a:prstGeom prst="round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第5周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0" y="404164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视觉识别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0" y="4069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8"/>
                </a:solidFill>
                <a:latin typeface="微软雅黑"/>
              </a:defRPr>
            </a:pPr>
            <a:r>
              <a:t>OpenCV/YOLO标识识别 + AprilTag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0" y="4133088"/>
            <a:ext cx="457200" cy="201168"/>
          </a:xfrm>
          <a:prstGeom prst="round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731520" y="4617720"/>
            <a:ext cx="10698480" cy="576072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FF9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914400" y="4764024"/>
            <a:ext cx="1097280" cy="274320"/>
          </a:xfrm>
          <a:prstGeom prst="roundRect">
            <a:avLst/>
          </a:prstGeom>
          <a:solidFill>
            <a:srgbClr val="FF9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第6周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86000" y="47091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Gazebo场景 + 推障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0" y="473659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8"/>
                </a:solidFill>
                <a:latin typeface="微软雅黑"/>
              </a:defRPr>
            </a:pPr>
            <a:r>
              <a:t>搭厂区 + 设计推障机构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972800" y="4800600"/>
            <a:ext cx="457200" cy="201168"/>
          </a:xfrm>
          <a:prstGeom prst="roundRect">
            <a:avLst/>
          </a:prstGeom>
          <a:solidFill>
            <a:srgbClr val="FF9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731520" y="5285231"/>
            <a:ext cx="10698480" cy="576072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FF9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914400" y="5431535"/>
            <a:ext cx="1097280" cy="274320"/>
          </a:xfrm>
          <a:prstGeom prst="roundRect">
            <a:avLst/>
          </a:prstGeom>
          <a:solidFill>
            <a:srgbClr val="FF9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第7周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86000" y="5376671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系统集成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0" y="5404103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8"/>
                </a:solidFill>
                <a:latin typeface="微软雅黑"/>
              </a:defRPr>
            </a:pPr>
            <a:r>
              <a:t>全流程串联 + start.sh + 调试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972800" y="5468111"/>
            <a:ext cx="457200" cy="201168"/>
          </a:xfrm>
          <a:prstGeom prst="roundRect">
            <a:avLst/>
          </a:prstGeom>
          <a:solidFill>
            <a:srgbClr val="FF9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731520" y="5952744"/>
            <a:ext cx="10698480" cy="576072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FF4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914400" y="6099048"/>
            <a:ext cx="1097280" cy="274320"/>
          </a:xfrm>
          <a:prstGeom prst="roundRect">
            <a:avLst/>
          </a:prstGeom>
          <a:solidFill>
            <a:srgbClr val="FF4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微软雅黑"/>
              </a:defRPr>
            </a:pPr>
            <a:r>
              <a:t>第8周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286000" y="6044184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答辩准备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0" y="607161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C8"/>
                </a:solidFill>
                <a:latin typeface="微软雅黑"/>
              </a:defRPr>
            </a:pPr>
            <a:r>
              <a:t>录视频 + 写报告 + PPT + 演练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972800" y="6135624"/>
            <a:ext cx="457200" cy="201168"/>
          </a:xfrm>
          <a:prstGeom prst="roundRect">
            <a:avLst/>
          </a:prstGeom>
          <a:solidFill>
            <a:srgbClr val="FF4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731520" y="6400800"/>
            <a:ext cx="10698480" cy="32004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005840" y="6400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D93D"/>
                </a:solidFill>
                <a:latin typeface="微软雅黑"/>
              </a:defRPr>
            </a:pPr>
            <a:r>
              <a:t>💡 时间紧张？优先保证：建图(15) + 视觉(20) + 导航返回(5) = 40分保底，再攻克清障和标定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🏁 总结 — 记住这些要点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2743200" cy="36576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371600" y="1554480"/>
            <a:ext cx="9418320" cy="658368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554480" y="1655064"/>
            <a:ext cx="457200" cy="457200"/>
          </a:xfrm>
          <a:prstGeom prst="ellipse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1664208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FF"/>
                </a:solidFill>
                <a:latin typeface="微软雅黑"/>
              </a:defRPr>
            </a:pPr>
            <a:r>
              <a:t>别慌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700784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8"/>
                </a:solidFill>
                <a:latin typeface="微软雅黑"/>
              </a:defRPr>
            </a:pPr>
            <a:r>
              <a:t>从环境搭建开始，一步一步来，先跑通再优化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2331720"/>
            <a:ext cx="9418320" cy="658368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554480" y="2432304"/>
            <a:ext cx="457200" cy="45720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2441448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微软雅黑"/>
              </a:defRPr>
            </a:pPr>
            <a:r>
              <a:t>抓重点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478024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8"/>
                </a:solidFill>
                <a:latin typeface="微软雅黑"/>
              </a:defRPr>
            </a:pPr>
            <a:r>
              <a:t>视觉(40分) + 清障(20分) 是60%的分值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3108960"/>
            <a:ext cx="9418320" cy="658368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554480" y="3209544"/>
            <a:ext cx="457200" cy="457200"/>
          </a:xfrm>
          <a:prstGeom prst="ellipse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3218688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696"/>
                </a:solidFill>
                <a:latin typeface="微软雅黑"/>
              </a:defRPr>
            </a:pPr>
            <a:r>
              <a:t>多练习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255264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8"/>
                </a:solidFill>
                <a:latin typeface="微软雅黑"/>
              </a:defRPr>
            </a:pPr>
            <a:r>
              <a:t>Gazebo仿真是反复调试出来的，耐心很重要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71600" y="3886200"/>
            <a:ext cx="9418320" cy="658368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FF9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554480" y="3986784"/>
            <a:ext cx="457200" cy="457200"/>
          </a:xfrm>
          <a:prstGeom prst="ellipse">
            <a:avLst/>
          </a:prstGeom>
          <a:solidFill>
            <a:srgbClr val="FF9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3995928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9600"/>
                </a:solidFill>
                <a:latin typeface="微软雅黑"/>
              </a:defRPr>
            </a:pPr>
            <a:r>
              <a:t>要创新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4032504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8"/>
                </a:solidFill>
                <a:latin typeface="微软雅黑"/>
              </a:defRPr>
            </a:pPr>
            <a:r>
              <a:t>方案同质化会被扣10~15分，想想独特的推障方式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71600" y="4663440"/>
            <a:ext cx="9418320" cy="658368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A8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554480" y="4764024"/>
            <a:ext cx="457200" cy="457200"/>
          </a:xfrm>
          <a:prstGeom prst="ellipse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4773168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85CFF"/>
                </a:solidFill>
                <a:latin typeface="微软雅黑"/>
              </a:defRPr>
            </a:pPr>
            <a:r>
              <a:t>会表达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4809744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8"/>
                </a:solidFill>
                <a:latin typeface="微软雅黑"/>
              </a:defRPr>
            </a:pPr>
            <a:r>
              <a:t>20分的答辩分，PPT和文档要认真准备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71600" y="5440680"/>
            <a:ext cx="9418320" cy="658368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FF4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554480" y="5541264"/>
            <a:ext cx="457200" cy="457200"/>
          </a:xfrm>
          <a:prstGeom prst="ellipse">
            <a:avLst/>
          </a:prstGeom>
          <a:solidFill>
            <a:srgbClr val="FF4D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94560" y="5550408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4D6A"/>
                </a:solidFill>
                <a:latin typeface="微软雅黑"/>
              </a:defRPr>
            </a:pPr>
            <a:r>
              <a:t>守规则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5586984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C8"/>
                </a:solidFill>
                <a:latin typeface="微软雅黑"/>
              </a:defRPr>
            </a:pPr>
            <a:r>
              <a:t>严禁硬编码、必须用导航、标识互不相同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63093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D93D"/>
                </a:solidFill>
                <a:latin typeface="微软雅黑"/>
              </a:defRPr>
            </a:pPr>
            <a:r>
              <a:t>加油！从零开始并不可怕，坚持学习一定能做出来！💪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1215</Words>
  <Application>Microsoft Office PowerPoint</Application>
  <PresentationFormat>宽屏</PresentationFormat>
  <Paragraphs>308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臻豪 黄</cp:lastModifiedBy>
  <cp:revision>2</cp:revision>
  <dcterms:created xsi:type="dcterms:W3CDTF">2013-01-27T09:14:16Z</dcterms:created>
  <dcterms:modified xsi:type="dcterms:W3CDTF">2026-09-18T18:09:29Z</dcterms:modified>
  <cp:category/>
</cp:coreProperties>
</file>